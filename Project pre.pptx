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615989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13068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3885356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576807-CE89-4D68-ACC1-5D44C35AB62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1131801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576807-CE89-4D68-ACC1-5D44C35AB620}" type="datetimeFigureOut">
              <a:rPr lang="en-IN" smtClean="0"/>
              <a:t>02-02-2026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4290305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576807-CE89-4D68-ACC1-5D44C35AB620}"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866692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576807-CE89-4D68-ACC1-5D44C35AB620}" type="datetimeFigureOut">
              <a:rPr lang="en-IN" smtClean="0"/>
              <a:t>02-02-2026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2297474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D576807-CE89-4D68-ACC1-5D44C35AB62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1424694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D576807-CE89-4D68-ACC1-5D44C35AB62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2294330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693476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C15CFF-1679-445D-AB78-2AD62B7523D1}"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40742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D576807-CE89-4D68-ACC1-5D44C35AB62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1011933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D576807-CE89-4D68-ACC1-5D44C35AB62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C15CFF-1679-445D-AB78-2AD62B7523D1}"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89062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D576807-CE89-4D68-ACC1-5D44C35AB62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1526568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1221073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76807-CE89-4D68-ACC1-5D44C35AB62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C15CFF-1679-445D-AB78-2AD62B7523D1}" type="slidenum">
              <a:rPr lang="en-IN" smtClean="0"/>
              <a:t>‹#›</a:t>
            </a:fld>
            <a:endParaRPr lang="en-IN"/>
          </a:p>
        </p:txBody>
      </p:sp>
    </p:spTree>
    <p:extLst>
      <p:ext uri="{BB962C8B-B14F-4D97-AF65-F5344CB8AC3E}">
        <p14:creationId xmlns:p14="http://schemas.microsoft.com/office/powerpoint/2010/main" val="379900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D576807-CE89-4D68-ACC1-5D44C35AB620}" type="datetimeFigureOut">
              <a:rPr lang="en-IN" smtClean="0"/>
              <a:t>02-02-2026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1C15CFF-1679-445D-AB78-2AD62B7523D1}" type="slidenum">
              <a:rPr lang="en-IN" smtClean="0"/>
              <a:t>‹#›</a:t>
            </a:fld>
            <a:endParaRPr lang="en-IN"/>
          </a:p>
        </p:txBody>
      </p:sp>
    </p:spTree>
    <p:extLst>
      <p:ext uri="{BB962C8B-B14F-4D97-AF65-F5344CB8AC3E}">
        <p14:creationId xmlns:p14="http://schemas.microsoft.com/office/powerpoint/2010/main" val="352179573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1FE93-6080-4A3A-85AD-F6D48C6285F4}"/>
              </a:ext>
            </a:extLst>
          </p:cNvPr>
          <p:cNvSpPr>
            <a:spLocks noGrp="1"/>
          </p:cNvSpPr>
          <p:nvPr>
            <p:ph type="ctrTitle"/>
          </p:nvPr>
        </p:nvSpPr>
        <p:spPr>
          <a:xfrm>
            <a:off x="2447170" y="909949"/>
            <a:ext cx="8915399" cy="701336"/>
          </a:xfrm>
        </p:spPr>
        <p:txBody>
          <a:bodyPr>
            <a:normAutofit/>
          </a:bodyPr>
          <a:lstStyle/>
          <a:p>
            <a:r>
              <a:rPr lang="en-US" sz="3200" b="1" dirty="0">
                <a:latin typeface="Times New Roman" panose="02020603050405020304" pitchFamily="18" charset="0"/>
                <a:cs typeface="Times New Roman" panose="02020603050405020304" pitchFamily="18" charset="0"/>
              </a:rPr>
              <a:t>Project Title</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4BE4230-D787-4C81-8047-62B0AD342BE9}"/>
              </a:ext>
            </a:extLst>
          </p:cNvPr>
          <p:cNvSpPr>
            <a:spLocks noGrp="1"/>
          </p:cNvSpPr>
          <p:nvPr>
            <p:ph type="subTitle" idx="1"/>
          </p:nvPr>
        </p:nvSpPr>
        <p:spPr>
          <a:xfrm>
            <a:off x="2725445" y="2254928"/>
            <a:ext cx="8779167" cy="3693123"/>
          </a:xfrm>
        </p:spPr>
        <p:txBody>
          <a:bodyPr>
            <a:normAutofit/>
          </a:bodyPr>
          <a:lstStyle/>
          <a:p>
            <a:r>
              <a:rPr lang="en-IN" sz="3200" b="1" dirty="0">
                <a:latin typeface="Times New Roman" panose="02020603050405020304" pitchFamily="18" charset="0"/>
                <a:cs typeface="Times New Roman" panose="02020603050405020304" pitchFamily="18" charset="0"/>
              </a:rPr>
              <a:t>Smartphone Usage Heatmap Analysis</a:t>
            </a:r>
          </a:p>
          <a:p>
            <a:endParaRPr lang="en-IN" sz="3200" b="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Team Members:</a:t>
            </a:r>
          </a:p>
          <a:p>
            <a:r>
              <a:rPr lang="en-US" sz="2000" dirty="0" err="1">
                <a:latin typeface="Times New Roman" panose="02020603050405020304" pitchFamily="18" charset="0"/>
                <a:cs typeface="Times New Roman" panose="02020603050405020304" pitchFamily="18" charset="0"/>
              </a:rPr>
              <a:t>Prof.Yugandhara</a:t>
            </a:r>
            <a:r>
              <a:rPr lang="en-US" sz="2000" dirty="0">
                <a:latin typeface="Times New Roman" panose="02020603050405020304" pitchFamily="18" charset="0"/>
                <a:cs typeface="Times New Roman" panose="02020603050405020304" pitchFamily="18" charset="0"/>
              </a:rPr>
              <a:t> Patil</a:t>
            </a:r>
          </a:p>
          <a:p>
            <a:r>
              <a:rPr lang="en-US" sz="2000" dirty="0">
                <a:latin typeface="Times New Roman" panose="02020603050405020304" pitchFamily="18" charset="0"/>
                <a:cs typeface="Times New Roman" panose="02020603050405020304" pitchFamily="18" charset="0"/>
              </a:rPr>
              <a:t>Komal Kambire</a:t>
            </a:r>
          </a:p>
          <a:p>
            <a:r>
              <a:rPr lang="en-US" sz="2000" dirty="0" err="1">
                <a:latin typeface="Times New Roman" panose="02020603050405020304" pitchFamily="18" charset="0"/>
                <a:cs typeface="Times New Roman" panose="02020603050405020304" pitchFamily="18" charset="0"/>
              </a:rPr>
              <a:t>Naina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Malyal</a:t>
            </a:r>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Jayashri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Ingale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4440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2D64-B01B-470C-A78E-2DBBDE138F0E}"/>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Problem Statement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6BC4C6-A193-44D4-AD0C-8A37F1A3B37B}"/>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rapid growth of smartphone usage, individuals are spending increasing amounts of time on their devices for communication, entertainment, and productivity. However, most users are unaware of their actual screen-time habits and how their usage varies across different times of the day and days of the week. This lack of awareness can lead to unhealthy digital behavior, reduced productivity, and potential mental well-being issues.</a:t>
            </a:r>
          </a:p>
          <a:p>
            <a:r>
              <a:rPr lang="en-US" sz="2000" dirty="0">
                <a:latin typeface="Times New Roman" panose="02020603050405020304" pitchFamily="18" charset="0"/>
                <a:cs typeface="Times New Roman" panose="02020603050405020304" pitchFamily="18" charset="0"/>
              </a:rPr>
              <a:t>This project aims to explore smartphone screen-time data using data visualization techniques such as heatmaps and clustering methods. By identifying hourly and daily usage trends and grouping users into categories like Heavy, Balanced, and Minimal users, the study will provide insights into digital behavior patterns and promote better awareness of smartphone usage habits.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983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BB946-B5DD-4241-976D-08A7E72AFDA1}"/>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Technology Stack</a:t>
            </a:r>
            <a:br>
              <a:rPr lang="en-US" dirty="0"/>
            </a:br>
            <a:endParaRPr lang="en-IN" dirty="0"/>
          </a:p>
        </p:txBody>
      </p:sp>
      <p:sp>
        <p:nvSpPr>
          <p:cNvPr id="3" name="Content Placeholder 2">
            <a:extLst>
              <a:ext uri="{FF2B5EF4-FFF2-40B4-BE49-F238E27FC236}">
                <a16:creationId xmlns:a16="http://schemas.microsoft.com/office/drawing/2014/main" id="{AFECBB53-D398-4EDB-A046-36521A50B7AA}"/>
              </a:ext>
            </a:extLst>
          </p:cNvPr>
          <p:cNvSpPr>
            <a:spLocks noGrp="1"/>
          </p:cNvSpPr>
          <p:nvPr>
            <p:ph idx="1"/>
          </p:nvPr>
        </p:nvSpPr>
        <p:spPr>
          <a:xfrm>
            <a:off x="2589212" y="1455938"/>
            <a:ext cx="8915400" cy="4455284"/>
          </a:xfrm>
        </p:spPr>
        <p:txBody>
          <a:bodyPr>
            <a:noAutofit/>
          </a:bodyPr>
          <a:lstStyle/>
          <a:p>
            <a:r>
              <a:rPr lang="en-US" dirty="0">
                <a:latin typeface="Times New Roman" panose="02020603050405020304" pitchFamily="18" charset="0"/>
                <a:cs typeface="Times New Roman" panose="02020603050405020304" pitchFamily="18" charset="0"/>
              </a:rPr>
              <a:t>Python – Used for data analysis, data preprocessing, and visualization due to its powerful data science libraries.</a:t>
            </a:r>
          </a:p>
          <a:p>
            <a:r>
              <a:rPr lang="en-US" dirty="0">
                <a:latin typeface="Times New Roman" panose="02020603050405020304" pitchFamily="18" charset="0"/>
                <a:cs typeface="Times New Roman" panose="02020603050405020304" pitchFamily="18" charset="0"/>
              </a:rPr>
              <a:t>Pandas – For data cleaning, transformation, and manipulation of screen-time datasets.</a:t>
            </a:r>
          </a:p>
          <a:p>
            <a:r>
              <a:rPr lang="en-US" dirty="0">
                <a:latin typeface="Times New Roman" panose="02020603050405020304" pitchFamily="18" charset="0"/>
                <a:cs typeface="Times New Roman" panose="02020603050405020304" pitchFamily="18" charset="0"/>
              </a:rPr>
              <a:t>NumPy – For numerical computations and handling large data arrays.</a:t>
            </a:r>
          </a:p>
          <a:p>
            <a:r>
              <a:rPr lang="en-US" dirty="0">
                <a:latin typeface="Times New Roman" panose="02020603050405020304" pitchFamily="18" charset="0"/>
                <a:cs typeface="Times New Roman" panose="02020603050405020304" pitchFamily="18" charset="0"/>
              </a:rPr>
              <a:t>Matplotlib – To clearly display usage trends and patterns through graphs.</a:t>
            </a:r>
          </a:p>
          <a:p>
            <a:r>
              <a:rPr lang="en-US" dirty="0">
                <a:latin typeface="Times New Roman" panose="02020603050405020304" pitchFamily="18" charset="0"/>
                <a:cs typeface="Times New Roman" panose="02020603050405020304" pitchFamily="18" charset="0"/>
              </a:rPr>
              <a:t>Seaborn – Used to generate heatmaps for hourly and daily smartphone usage patterns.</a:t>
            </a:r>
          </a:p>
          <a:p>
            <a:r>
              <a:rPr lang="en-US" dirty="0">
                <a:latin typeface="Times New Roman" panose="02020603050405020304" pitchFamily="18" charset="0"/>
                <a:cs typeface="Times New Roman" panose="02020603050405020304" pitchFamily="18" charset="0"/>
              </a:rPr>
              <a:t>Machine Learning</a:t>
            </a:r>
          </a:p>
          <a:p>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 For clustering users into categories (Heavy, Balanced, Minimal) using algorithms like K-Means Clustering.</a:t>
            </a:r>
          </a:p>
          <a:p>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 For interactive coding, visualization, and step-by-step analysis.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096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7CB6-0EE4-456D-8C25-65EB78DB4026}"/>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Data Preprocessing</a:t>
            </a:r>
            <a:br>
              <a:rPr lang="en-US" dirty="0"/>
            </a:br>
            <a:endParaRPr lang="en-IN" dirty="0"/>
          </a:p>
        </p:txBody>
      </p:sp>
      <p:sp>
        <p:nvSpPr>
          <p:cNvPr id="3" name="Content Placeholder 2">
            <a:extLst>
              <a:ext uri="{FF2B5EF4-FFF2-40B4-BE49-F238E27FC236}">
                <a16:creationId xmlns:a16="http://schemas.microsoft.com/office/drawing/2014/main" id="{C1D0F2FA-B155-4B4F-8577-B1A6C4347759}"/>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Data preprocessing is a crucial step in this project because raw smartphone usage data is often incomplete, inconsistent, or unstructured. Before performing visualization and clustering, the dataset must be cleaned and transformed into a usable format.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Cleaning</a:t>
            </a:r>
          </a:p>
          <a:p>
            <a:pPr marL="0" indent="0">
              <a:buNone/>
            </a:pPr>
            <a:r>
              <a:rPr lang="en-US" sz="2000" dirty="0">
                <a:latin typeface="Times New Roman" panose="02020603050405020304" pitchFamily="18" charset="0"/>
                <a:cs typeface="Times New Roman" panose="02020603050405020304" pitchFamily="18" charset="0"/>
              </a:rPr>
              <a:t>Raw screen-time data may contain:</a:t>
            </a:r>
          </a:p>
          <a:p>
            <a:pPr marL="0" indent="0">
              <a:buNone/>
            </a:pPr>
            <a:r>
              <a:rPr lang="en-US" sz="2000" dirty="0">
                <a:latin typeface="Times New Roman" panose="02020603050405020304" pitchFamily="18" charset="0"/>
                <a:cs typeface="Times New Roman" panose="02020603050405020304" pitchFamily="18" charset="0"/>
              </a:rPr>
              <a:t>Missing values (no data recorded for certain hours or days)</a:t>
            </a:r>
          </a:p>
          <a:p>
            <a:pPr marL="0" indent="0">
              <a:buNone/>
            </a:pPr>
            <a:r>
              <a:rPr lang="en-US" sz="2000" dirty="0">
                <a:latin typeface="Times New Roman" panose="02020603050405020304" pitchFamily="18" charset="0"/>
                <a:cs typeface="Times New Roman" panose="02020603050405020304" pitchFamily="18" charset="0"/>
              </a:rPr>
              <a:t>Duplicate records</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3437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FBDA-0ECC-4964-9491-CBFFE1B814F3}"/>
              </a:ext>
            </a:extLst>
          </p:cNvPr>
          <p:cNvSpPr>
            <a:spLocks noGrp="1"/>
          </p:cNvSpPr>
          <p:nvPr>
            <p:ph type="title"/>
          </p:nvPr>
        </p:nvSpPr>
        <p:spPr/>
        <p:txBody>
          <a:bodyPr/>
          <a:lstStyle/>
          <a:p>
            <a:r>
              <a:rPr lang="en-US" dirty="0"/>
              <a:t>EDA</a:t>
            </a:r>
            <a:endParaRPr lang="en-IN" dirty="0"/>
          </a:p>
        </p:txBody>
      </p:sp>
      <p:sp>
        <p:nvSpPr>
          <p:cNvPr id="3" name="Content Placeholder 2">
            <a:extLst>
              <a:ext uri="{FF2B5EF4-FFF2-40B4-BE49-F238E27FC236}">
                <a16:creationId xmlns:a16="http://schemas.microsoft.com/office/drawing/2014/main" id="{9D96A140-FCF7-417C-A16F-4CC0F29ED121}"/>
              </a:ext>
            </a:extLst>
          </p:cNvPr>
          <p:cNvSpPr>
            <a:spLocks noGrp="1"/>
          </p:cNvSpPr>
          <p:nvPr>
            <p:ph idx="1"/>
          </p:nvPr>
        </p:nvSpPr>
        <p:spPr>
          <a:xfrm>
            <a:off x="2589212" y="1207363"/>
            <a:ext cx="8915400" cy="4703859"/>
          </a:xfrm>
        </p:spPr>
        <p:txBody>
          <a:bodyPr>
            <a:normAutofit/>
          </a:bodyPr>
          <a:lstStyle/>
          <a:p>
            <a:r>
              <a:rPr lang="en-US" sz="2000" dirty="0">
                <a:latin typeface="Times New Roman" panose="02020603050405020304" pitchFamily="18" charset="0"/>
                <a:cs typeface="Times New Roman" panose="02020603050405020304" pitchFamily="18" charset="0"/>
              </a:rPr>
              <a:t>Exploratory Data Analysis (EDA) is the process of analyzing and visualizing data to understand its main characteristics, patterns, and relationships before applying machine learning techniques. In this project, EDA helps uncover smartphone usage behavior across different times and users.</a:t>
            </a:r>
            <a:endParaRPr lang="en-IN" sz="20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CFDEFF9-101D-41D0-97CC-FDC35E5398BF}"/>
              </a:ext>
            </a:extLst>
          </p:cNvPr>
          <p:cNvPicPr>
            <a:picLocks noChangeAspect="1"/>
          </p:cNvPicPr>
          <p:nvPr/>
        </p:nvPicPr>
        <p:blipFill>
          <a:blip r:embed="rId2"/>
          <a:stretch>
            <a:fillRect/>
          </a:stretch>
        </p:blipFill>
        <p:spPr>
          <a:xfrm>
            <a:off x="798991" y="2716225"/>
            <a:ext cx="4234648" cy="3778250"/>
          </a:xfrm>
          <a:prstGeom prst="rect">
            <a:avLst/>
          </a:prstGeom>
        </p:spPr>
      </p:pic>
      <p:pic>
        <p:nvPicPr>
          <p:cNvPr id="6" name="Picture 5">
            <a:extLst>
              <a:ext uri="{FF2B5EF4-FFF2-40B4-BE49-F238E27FC236}">
                <a16:creationId xmlns:a16="http://schemas.microsoft.com/office/drawing/2014/main" id="{0F799EE2-D076-464D-AAA5-D15CF1EEA6DF}"/>
              </a:ext>
            </a:extLst>
          </p:cNvPr>
          <p:cNvPicPr>
            <a:picLocks noChangeAspect="1"/>
          </p:cNvPicPr>
          <p:nvPr/>
        </p:nvPicPr>
        <p:blipFill>
          <a:blip r:embed="rId3"/>
          <a:stretch>
            <a:fillRect/>
          </a:stretch>
        </p:blipFill>
        <p:spPr>
          <a:xfrm>
            <a:off x="5530326" y="2716225"/>
            <a:ext cx="5593394" cy="4013410"/>
          </a:xfrm>
          <a:prstGeom prst="rect">
            <a:avLst/>
          </a:prstGeom>
        </p:spPr>
      </p:pic>
    </p:spTree>
    <p:extLst>
      <p:ext uri="{BB962C8B-B14F-4D97-AF65-F5344CB8AC3E}">
        <p14:creationId xmlns:p14="http://schemas.microsoft.com/office/powerpoint/2010/main" val="490167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B59E-FDDF-456A-9A04-45A6D0EE7361}"/>
              </a:ext>
            </a:extLst>
          </p:cNvPr>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Model Selection</a:t>
            </a:r>
            <a:endParaRPr lang="en-IN" dirty="0"/>
          </a:p>
        </p:txBody>
      </p:sp>
      <p:sp>
        <p:nvSpPr>
          <p:cNvPr id="3" name="Content Placeholder 2">
            <a:extLst>
              <a:ext uri="{FF2B5EF4-FFF2-40B4-BE49-F238E27FC236}">
                <a16:creationId xmlns:a16="http://schemas.microsoft.com/office/drawing/2014/main" id="{AD393578-D0D4-4979-9056-FC40A99EBE06}"/>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Chosen Model: </a:t>
            </a:r>
            <a:r>
              <a:rPr lang="en-IN" b="1" dirty="0">
                <a:latin typeface="Times New Roman" panose="02020603050405020304" pitchFamily="18" charset="0"/>
                <a:cs typeface="Times New Roman" panose="02020603050405020304" pitchFamily="18" charset="0"/>
              </a:rPr>
              <a:t>K-Means Clustering</a:t>
            </a:r>
          </a:p>
          <a:p>
            <a:r>
              <a:rPr lang="en-US" dirty="0">
                <a:latin typeface="Times New Roman" panose="02020603050405020304" pitchFamily="18" charset="0"/>
                <a:cs typeface="Times New Roman" panose="02020603050405020304" pitchFamily="18" charset="0"/>
              </a:rPr>
              <a:t>The objective of this project is to identify </a:t>
            </a:r>
            <a:r>
              <a:rPr lang="en-US" b="1" dirty="0">
                <a:latin typeface="Times New Roman" panose="02020603050405020304" pitchFamily="18" charset="0"/>
                <a:cs typeface="Times New Roman" panose="02020603050405020304" pitchFamily="18" charset="0"/>
              </a:rPr>
              <a:t>usage behavior patterns</a:t>
            </a:r>
            <a:r>
              <a:rPr lang="en-US" dirty="0">
                <a:latin typeface="Times New Roman" panose="02020603050405020304" pitchFamily="18" charset="0"/>
                <a:cs typeface="Times New Roman" panose="02020603050405020304" pitchFamily="18" charset="0"/>
              </a:rPr>
              <a:t> without predefined labels. Since the dataset does not contain user categories beforehand, an </a:t>
            </a:r>
            <a:r>
              <a:rPr lang="en-US" b="1" dirty="0">
                <a:latin typeface="Times New Roman" panose="02020603050405020304" pitchFamily="18" charset="0"/>
                <a:cs typeface="Times New Roman" panose="02020603050405020304" pitchFamily="18" charset="0"/>
              </a:rPr>
              <a:t>unsupervised learning</a:t>
            </a:r>
            <a:r>
              <a:rPr lang="en-US" dirty="0">
                <a:latin typeface="Times New Roman" panose="02020603050405020304" pitchFamily="18" charset="0"/>
                <a:cs typeface="Times New Roman" panose="02020603050405020304" pitchFamily="18" charset="0"/>
              </a:rPr>
              <a:t> approach is most suitable.</a:t>
            </a:r>
          </a:p>
          <a:p>
            <a:r>
              <a:rPr lang="en-US" b="1" dirty="0">
                <a:latin typeface="Times New Roman" panose="02020603050405020304" pitchFamily="18" charset="0"/>
                <a:cs typeface="Times New Roman" panose="02020603050405020304" pitchFamily="18" charset="0"/>
              </a:rPr>
              <a:t>How K-Means Fits This Project</a:t>
            </a:r>
          </a:p>
          <a:p>
            <a:r>
              <a:rPr lang="en-US" dirty="0">
                <a:latin typeface="Times New Roman" panose="02020603050405020304" pitchFamily="18" charset="0"/>
                <a:cs typeface="Times New Roman" panose="02020603050405020304" pitchFamily="18" charset="0"/>
              </a:rPr>
              <a:t>Groups users based on </a:t>
            </a:r>
            <a:r>
              <a:rPr lang="en-US" b="1" dirty="0">
                <a:latin typeface="Times New Roman" panose="02020603050405020304" pitchFamily="18" charset="0"/>
                <a:cs typeface="Times New Roman" panose="02020603050405020304" pitchFamily="18" charset="0"/>
              </a:rPr>
              <a:t>screen time, app usage, and activity patterns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Helps classify users into:</a:t>
            </a:r>
          </a:p>
          <a:p>
            <a:pPr lvl="1"/>
            <a:r>
              <a:rPr lang="en-US" b="1" dirty="0">
                <a:latin typeface="Times New Roman" panose="02020603050405020304" pitchFamily="18" charset="0"/>
                <a:cs typeface="Times New Roman" panose="02020603050405020304" pitchFamily="18" charset="0"/>
              </a:rPr>
              <a:t>Minimal Users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Balanced Users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Heavy Users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behavioral insights</a:t>
            </a:r>
            <a:r>
              <a:rPr lang="en-US" dirty="0">
                <a:latin typeface="Times New Roman" panose="02020603050405020304" pitchFamily="18" charset="0"/>
                <a:cs typeface="Times New Roman" panose="02020603050405020304" pitchFamily="18" charset="0"/>
              </a:rPr>
              <a:t> and visualization clarity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4258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9FE8-3944-4279-BC2D-7AE8A3CDA204}"/>
              </a:ext>
            </a:extLst>
          </p:cNvPr>
          <p:cNvSpPr>
            <a:spLocks noGrp="1"/>
          </p:cNvSpPr>
          <p:nvPr>
            <p:ph type="title"/>
          </p:nvPr>
        </p:nvSpPr>
        <p:spPr>
          <a:xfrm>
            <a:off x="2514930" y="668498"/>
            <a:ext cx="8911687" cy="1280890"/>
          </a:xfrm>
        </p:spPr>
        <p:txBody>
          <a:bodyPr/>
          <a:lstStyle/>
          <a:p>
            <a:r>
              <a:rPr lang="en-IN" dirty="0">
                <a:latin typeface="Times New Roman" panose="02020603050405020304" pitchFamily="18" charset="0"/>
                <a:cs typeface="Times New Roman" panose="02020603050405020304" pitchFamily="18" charset="0"/>
              </a:rPr>
              <a:t>Results</a:t>
            </a:r>
          </a:p>
        </p:txBody>
      </p:sp>
      <p:graphicFrame>
        <p:nvGraphicFramePr>
          <p:cNvPr id="5" name="Content Placeholder 4">
            <a:extLst>
              <a:ext uri="{FF2B5EF4-FFF2-40B4-BE49-F238E27FC236}">
                <a16:creationId xmlns:a16="http://schemas.microsoft.com/office/drawing/2014/main" id="{7963F768-13C4-41C7-86CD-ED2503E5560C}"/>
              </a:ext>
            </a:extLst>
          </p:cNvPr>
          <p:cNvGraphicFramePr>
            <a:graphicFrameLocks noGrp="1"/>
          </p:cNvGraphicFramePr>
          <p:nvPr>
            <p:ph idx="1"/>
            <p:extLst>
              <p:ext uri="{D42A27DB-BD31-4B8C-83A1-F6EECF244321}">
                <p14:modId xmlns:p14="http://schemas.microsoft.com/office/powerpoint/2010/main" val="882195017"/>
              </p:ext>
            </p:extLst>
          </p:nvPr>
        </p:nvGraphicFramePr>
        <p:xfrm>
          <a:off x="765384" y="2649793"/>
          <a:ext cx="10661232" cy="2011680"/>
        </p:xfrm>
        <a:graphic>
          <a:graphicData uri="http://schemas.openxmlformats.org/drawingml/2006/table">
            <a:tbl>
              <a:tblPr/>
              <a:tblGrid>
                <a:gridCol w="1776872">
                  <a:extLst>
                    <a:ext uri="{9D8B030D-6E8A-4147-A177-3AD203B41FA5}">
                      <a16:colId xmlns:a16="http://schemas.microsoft.com/office/drawing/2014/main" val="2770176379"/>
                    </a:ext>
                  </a:extLst>
                </a:gridCol>
                <a:gridCol w="1776872">
                  <a:extLst>
                    <a:ext uri="{9D8B030D-6E8A-4147-A177-3AD203B41FA5}">
                      <a16:colId xmlns:a16="http://schemas.microsoft.com/office/drawing/2014/main" val="2117172096"/>
                    </a:ext>
                  </a:extLst>
                </a:gridCol>
                <a:gridCol w="1776872">
                  <a:extLst>
                    <a:ext uri="{9D8B030D-6E8A-4147-A177-3AD203B41FA5}">
                      <a16:colId xmlns:a16="http://schemas.microsoft.com/office/drawing/2014/main" val="258122316"/>
                    </a:ext>
                  </a:extLst>
                </a:gridCol>
                <a:gridCol w="1776872">
                  <a:extLst>
                    <a:ext uri="{9D8B030D-6E8A-4147-A177-3AD203B41FA5}">
                      <a16:colId xmlns:a16="http://schemas.microsoft.com/office/drawing/2014/main" val="2538322797"/>
                    </a:ext>
                  </a:extLst>
                </a:gridCol>
                <a:gridCol w="1776872">
                  <a:extLst>
                    <a:ext uri="{9D8B030D-6E8A-4147-A177-3AD203B41FA5}">
                      <a16:colId xmlns:a16="http://schemas.microsoft.com/office/drawing/2014/main" val="3702070001"/>
                    </a:ext>
                  </a:extLst>
                </a:gridCol>
                <a:gridCol w="1776872">
                  <a:extLst>
                    <a:ext uri="{9D8B030D-6E8A-4147-A177-3AD203B41FA5}">
                      <a16:colId xmlns:a16="http://schemas.microsoft.com/office/drawing/2014/main" val="2876489511"/>
                    </a:ext>
                  </a:extLst>
                </a:gridCol>
              </a:tblGrid>
              <a:tr h="0">
                <a:tc>
                  <a:txBody>
                    <a:bodyPr/>
                    <a:lstStyle/>
                    <a:p>
                      <a:r>
                        <a:rPr lang="en-IN"/>
                        <a:t>User Category</a:t>
                      </a:r>
                    </a:p>
                  </a:txBody>
                  <a:tcPr anchor="ctr">
                    <a:lnL>
                      <a:noFill/>
                    </a:lnL>
                    <a:lnR>
                      <a:noFill/>
                    </a:lnR>
                    <a:lnT>
                      <a:noFill/>
                    </a:lnT>
                    <a:lnB>
                      <a:noFill/>
                    </a:lnB>
                  </a:tcPr>
                </a:tc>
                <a:tc>
                  <a:txBody>
                    <a:bodyPr/>
                    <a:lstStyle/>
                    <a:p>
                      <a:r>
                        <a:rPr lang="en-IN"/>
                        <a:t>Cluster ID</a:t>
                      </a:r>
                    </a:p>
                  </a:txBody>
                  <a:tcPr anchor="ctr">
                    <a:lnL>
                      <a:noFill/>
                    </a:lnL>
                    <a:lnR>
                      <a:noFill/>
                    </a:lnR>
                    <a:lnT>
                      <a:noFill/>
                    </a:lnT>
                    <a:lnB>
                      <a:noFill/>
                    </a:lnB>
                  </a:tcPr>
                </a:tc>
                <a:tc>
                  <a:txBody>
                    <a:bodyPr/>
                    <a:lstStyle/>
                    <a:p>
                      <a:r>
                        <a:rPr lang="en-US"/>
                        <a:t>Avg Screen Time (hrs/day)</a:t>
                      </a:r>
                    </a:p>
                  </a:txBody>
                  <a:tcPr anchor="ctr">
                    <a:lnL>
                      <a:noFill/>
                    </a:lnL>
                    <a:lnR>
                      <a:noFill/>
                    </a:lnR>
                    <a:lnT>
                      <a:noFill/>
                    </a:lnT>
                    <a:lnB>
                      <a:noFill/>
                    </a:lnB>
                  </a:tcPr>
                </a:tc>
                <a:tc>
                  <a:txBody>
                    <a:bodyPr/>
                    <a:lstStyle/>
                    <a:p>
                      <a:r>
                        <a:rPr lang="en-IN"/>
                        <a:t>Avg App Usage Count</a:t>
                      </a:r>
                    </a:p>
                  </a:txBody>
                  <a:tcPr anchor="ctr">
                    <a:lnL>
                      <a:noFill/>
                    </a:lnL>
                    <a:lnR>
                      <a:noFill/>
                    </a:lnR>
                    <a:lnT>
                      <a:noFill/>
                    </a:lnT>
                    <a:lnB>
                      <a:noFill/>
                    </a:lnB>
                  </a:tcPr>
                </a:tc>
                <a:tc>
                  <a:txBody>
                    <a:bodyPr/>
                    <a:lstStyle/>
                    <a:p>
                      <a:r>
                        <a:rPr lang="en-IN"/>
                        <a:t>Avg Active Hours</a:t>
                      </a:r>
                    </a:p>
                  </a:txBody>
                  <a:tcPr anchor="ctr">
                    <a:lnL>
                      <a:noFill/>
                    </a:lnL>
                    <a:lnR>
                      <a:noFill/>
                    </a:lnR>
                    <a:lnT>
                      <a:noFill/>
                    </a:lnT>
                    <a:lnB>
                      <a:noFill/>
                    </a:lnB>
                  </a:tcPr>
                </a:tc>
                <a:tc>
                  <a:txBody>
                    <a:bodyPr/>
                    <a:lstStyle/>
                    <a:p>
                      <a:r>
                        <a:rPr lang="en-IN"/>
                        <a:t>% of Users</a:t>
                      </a:r>
                    </a:p>
                  </a:txBody>
                  <a:tcPr anchor="ctr">
                    <a:lnL>
                      <a:noFill/>
                    </a:lnL>
                    <a:lnR>
                      <a:noFill/>
                    </a:lnR>
                    <a:lnT>
                      <a:noFill/>
                    </a:lnT>
                    <a:lnB>
                      <a:noFill/>
                    </a:lnB>
                  </a:tcPr>
                </a:tc>
                <a:extLst>
                  <a:ext uri="{0D108BD9-81ED-4DB2-BD59-A6C34878D82A}">
                    <a16:rowId xmlns:a16="http://schemas.microsoft.com/office/drawing/2014/main" val="2778516933"/>
                  </a:ext>
                </a:extLst>
              </a:tr>
              <a:tr h="0">
                <a:tc>
                  <a:txBody>
                    <a:bodyPr/>
                    <a:lstStyle/>
                    <a:p>
                      <a:r>
                        <a:rPr lang="en-IN" b="1"/>
                        <a:t>Minimal User</a:t>
                      </a:r>
                      <a:endParaRPr lang="en-IN"/>
                    </a:p>
                  </a:txBody>
                  <a:tcPr anchor="ctr">
                    <a:lnL>
                      <a:noFill/>
                    </a:lnL>
                    <a:lnR>
                      <a:noFill/>
                    </a:lnR>
                    <a:lnT>
                      <a:noFill/>
                    </a:lnT>
                    <a:lnB>
                      <a:noFill/>
                    </a:lnB>
                  </a:tcPr>
                </a:tc>
                <a:tc>
                  <a:txBody>
                    <a:bodyPr/>
                    <a:lstStyle/>
                    <a:p>
                      <a:r>
                        <a:rPr lang="en-IN"/>
                        <a:t>Cluster 0</a:t>
                      </a:r>
                    </a:p>
                  </a:txBody>
                  <a:tcPr anchor="ctr">
                    <a:lnL>
                      <a:noFill/>
                    </a:lnL>
                    <a:lnR>
                      <a:noFill/>
                    </a:lnR>
                    <a:lnT>
                      <a:noFill/>
                    </a:lnT>
                    <a:lnB>
                      <a:noFill/>
                    </a:lnB>
                  </a:tcPr>
                </a:tc>
                <a:tc>
                  <a:txBody>
                    <a:bodyPr/>
                    <a:lstStyle/>
                    <a:p>
                      <a:r>
                        <a:rPr lang="en-IN"/>
                        <a:t>1.5 – 2.5 hrs</a:t>
                      </a:r>
                    </a:p>
                  </a:txBody>
                  <a:tcPr anchor="ctr">
                    <a:lnL>
                      <a:noFill/>
                    </a:lnL>
                    <a:lnR>
                      <a:noFill/>
                    </a:lnR>
                    <a:lnT>
                      <a:noFill/>
                    </a:lnT>
                    <a:lnB>
                      <a:noFill/>
                    </a:lnB>
                  </a:tcPr>
                </a:tc>
                <a:tc>
                  <a:txBody>
                    <a:bodyPr/>
                    <a:lstStyle/>
                    <a:p>
                      <a:r>
                        <a:rPr lang="en-IN"/>
                        <a:t>10 – 15 apps</a:t>
                      </a:r>
                    </a:p>
                  </a:txBody>
                  <a:tcPr anchor="ctr">
                    <a:lnL>
                      <a:noFill/>
                    </a:lnL>
                    <a:lnR>
                      <a:noFill/>
                    </a:lnR>
                    <a:lnT>
                      <a:noFill/>
                    </a:lnT>
                    <a:lnB>
                      <a:noFill/>
                    </a:lnB>
                  </a:tcPr>
                </a:tc>
                <a:tc>
                  <a:txBody>
                    <a:bodyPr/>
                    <a:lstStyle/>
                    <a:p>
                      <a:r>
                        <a:rPr lang="en-IN"/>
                        <a:t>3 – 4 hrs</a:t>
                      </a:r>
                    </a:p>
                  </a:txBody>
                  <a:tcPr anchor="ctr">
                    <a:lnL>
                      <a:noFill/>
                    </a:lnL>
                    <a:lnR>
                      <a:noFill/>
                    </a:lnR>
                    <a:lnT>
                      <a:noFill/>
                    </a:lnT>
                    <a:lnB>
                      <a:noFill/>
                    </a:lnB>
                  </a:tcPr>
                </a:tc>
                <a:tc>
                  <a:txBody>
                    <a:bodyPr/>
                    <a:lstStyle/>
                    <a:p>
                      <a:r>
                        <a:rPr lang="en-IN"/>
                        <a:t>30%</a:t>
                      </a:r>
                    </a:p>
                  </a:txBody>
                  <a:tcPr anchor="ctr">
                    <a:lnL>
                      <a:noFill/>
                    </a:lnL>
                    <a:lnR>
                      <a:noFill/>
                    </a:lnR>
                    <a:lnT>
                      <a:noFill/>
                    </a:lnT>
                    <a:lnB>
                      <a:noFill/>
                    </a:lnB>
                  </a:tcPr>
                </a:tc>
                <a:extLst>
                  <a:ext uri="{0D108BD9-81ED-4DB2-BD59-A6C34878D82A}">
                    <a16:rowId xmlns:a16="http://schemas.microsoft.com/office/drawing/2014/main" val="3587351225"/>
                  </a:ext>
                </a:extLst>
              </a:tr>
              <a:tr h="0">
                <a:tc>
                  <a:txBody>
                    <a:bodyPr/>
                    <a:lstStyle/>
                    <a:p>
                      <a:r>
                        <a:rPr lang="en-IN" b="1"/>
                        <a:t>Balanced User</a:t>
                      </a:r>
                      <a:endParaRPr lang="en-IN"/>
                    </a:p>
                  </a:txBody>
                  <a:tcPr anchor="ctr">
                    <a:lnL>
                      <a:noFill/>
                    </a:lnL>
                    <a:lnR>
                      <a:noFill/>
                    </a:lnR>
                    <a:lnT>
                      <a:noFill/>
                    </a:lnT>
                    <a:lnB>
                      <a:noFill/>
                    </a:lnB>
                  </a:tcPr>
                </a:tc>
                <a:tc>
                  <a:txBody>
                    <a:bodyPr/>
                    <a:lstStyle/>
                    <a:p>
                      <a:r>
                        <a:rPr lang="en-IN"/>
                        <a:t>Cluster 1</a:t>
                      </a:r>
                    </a:p>
                  </a:txBody>
                  <a:tcPr anchor="ctr">
                    <a:lnL>
                      <a:noFill/>
                    </a:lnL>
                    <a:lnR>
                      <a:noFill/>
                    </a:lnR>
                    <a:lnT>
                      <a:noFill/>
                    </a:lnT>
                    <a:lnB>
                      <a:noFill/>
                    </a:lnB>
                  </a:tcPr>
                </a:tc>
                <a:tc>
                  <a:txBody>
                    <a:bodyPr/>
                    <a:lstStyle/>
                    <a:p>
                      <a:r>
                        <a:rPr lang="en-IN"/>
                        <a:t>3.0 – 4.5 hrs</a:t>
                      </a:r>
                    </a:p>
                  </a:txBody>
                  <a:tcPr anchor="ctr">
                    <a:lnL>
                      <a:noFill/>
                    </a:lnL>
                    <a:lnR>
                      <a:noFill/>
                    </a:lnR>
                    <a:lnT>
                      <a:noFill/>
                    </a:lnT>
                    <a:lnB>
                      <a:noFill/>
                    </a:lnB>
                  </a:tcPr>
                </a:tc>
                <a:tc>
                  <a:txBody>
                    <a:bodyPr/>
                    <a:lstStyle/>
                    <a:p>
                      <a:r>
                        <a:rPr lang="en-IN"/>
                        <a:t>20 – 30 apps</a:t>
                      </a:r>
                    </a:p>
                  </a:txBody>
                  <a:tcPr anchor="ctr">
                    <a:lnL>
                      <a:noFill/>
                    </a:lnL>
                    <a:lnR>
                      <a:noFill/>
                    </a:lnR>
                    <a:lnT>
                      <a:noFill/>
                    </a:lnT>
                    <a:lnB>
                      <a:noFill/>
                    </a:lnB>
                  </a:tcPr>
                </a:tc>
                <a:tc>
                  <a:txBody>
                    <a:bodyPr/>
                    <a:lstStyle/>
                    <a:p>
                      <a:r>
                        <a:rPr lang="en-IN"/>
                        <a:t>5 – 6 hrs</a:t>
                      </a:r>
                    </a:p>
                  </a:txBody>
                  <a:tcPr anchor="ctr">
                    <a:lnL>
                      <a:noFill/>
                    </a:lnL>
                    <a:lnR>
                      <a:noFill/>
                    </a:lnR>
                    <a:lnT>
                      <a:noFill/>
                    </a:lnT>
                    <a:lnB>
                      <a:noFill/>
                    </a:lnB>
                  </a:tcPr>
                </a:tc>
                <a:tc>
                  <a:txBody>
                    <a:bodyPr/>
                    <a:lstStyle/>
                    <a:p>
                      <a:r>
                        <a:rPr lang="en-IN"/>
                        <a:t>45%</a:t>
                      </a:r>
                    </a:p>
                  </a:txBody>
                  <a:tcPr anchor="ctr">
                    <a:lnL>
                      <a:noFill/>
                    </a:lnL>
                    <a:lnR>
                      <a:noFill/>
                    </a:lnR>
                    <a:lnT>
                      <a:noFill/>
                    </a:lnT>
                    <a:lnB>
                      <a:noFill/>
                    </a:lnB>
                  </a:tcPr>
                </a:tc>
                <a:extLst>
                  <a:ext uri="{0D108BD9-81ED-4DB2-BD59-A6C34878D82A}">
                    <a16:rowId xmlns:a16="http://schemas.microsoft.com/office/drawing/2014/main" val="3085446597"/>
                  </a:ext>
                </a:extLst>
              </a:tr>
              <a:tr h="0">
                <a:tc>
                  <a:txBody>
                    <a:bodyPr/>
                    <a:lstStyle/>
                    <a:p>
                      <a:r>
                        <a:rPr lang="en-IN" b="1"/>
                        <a:t>Heavy User</a:t>
                      </a:r>
                      <a:endParaRPr lang="en-IN"/>
                    </a:p>
                  </a:txBody>
                  <a:tcPr anchor="ctr">
                    <a:lnL>
                      <a:noFill/>
                    </a:lnL>
                    <a:lnR>
                      <a:noFill/>
                    </a:lnR>
                    <a:lnT>
                      <a:noFill/>
                    </a:lnT>
                    <a:lnB>
                      <a:noFill/>
                    </a:lnB>
                  </a:tcPr>
                </a:tc>
                <a:tc>
                  <a:txBody>
                    <a:bodyPr/>
                    <a:lstStyle/>
                    <a:p>
                      <a:r>
                        <a:rPr lang="en-IN"/>
                        <a:t>Cluster 2</a:t>
                      </a:r>
                    </a:p>
                  </a:txBody>
                  <a:tcPr anchor="ctr">
                    <a:lnL>
                      <a:noFill/>
                    </a:lnL>
                    <a:lnR>
                      <a:noFill/>
                    </a:lnR>
                    <a:lnT>
                      <a:noFill/>
                    </a:lnT>
                    <a:lnB>
                      <a:noFill/>
                    </a:lnB>
                  </a:tcPr>
                </a:tc>
                <a:tc>
                  <a:txBody>
                    <a:bodyPr/>
                    <a:lstStyle/>
                    <a:p>
                      <a:r>
                        <a:rPr lang="en-IN"/>
                        <a:t>6.0 – 8.5 hrs</a:t>
                      </a:r>
                    </a:p>
                  </a:txBody>
                  <a:tcPr anchor="ctr">
                    <a:lnL>
                      <a:noFill/>
                    </a:lnL>
                    <a:lnR>
                      <a:noFill/>
                    </a:lnR>
                    <a:lnT>
                      <a:noFill/>
                    </a:lnT>
                    <a:lnB>
                      <a:noFill/>
                    </a:lnB>
                  </a:tcPr>
                </a:tc>
                <a:tc>
                  <a:txBody>
                    <a:bodyPr/>
                    <a:lstStyle/>
                    <a:p>
                      <a:r>
                        <a:rPr lang="en-IN"/>
                        <a:t>35 – 50 apps</a:t>
                      </a:r>
                    </a:p>
                  </a:txBody>
                  <a:tcPr anchor="ctr">
                    <a:lnL>
                      <a:noFill/>
                    </a:lnL>
                    <a:lnR>
                      <a:noFill/>
                    </a:lnR>
                    <a:lnT>
                      <a:noFill/>
                    </a:lnT>
                    <a:lnB>
                      <a:noFill/>
                    </a:lnB>
                  </a:tcPr>
                </a:tc>
                <a:tc>
                  <a:txBody>
                    <a:bodyPr/>
                    <a:lstStyle/>
                    <a:p>
                      <a:r>
                        <a:rPr lang="en-IN"/>
                        <a:t>8 – 10 hrs</a:t>
                      </a:r>
                    </a:p>
                  </a:txBody>
                  <a:tcPr anchor="ctr">
                    <a:lnL>
                      <a:noFill/>
                    </a:lnL>
                    <a:lnR>
                      <a:noFill/>
                    </a:lnR>
                    <a:lnT>
                      <a:noFill/>
                    </a:lnT>
                    <a:lnB>
                      <a:noFill/>
                    </a:lnB>
                  </a:tcPr>
                </a:tc>
                <a:tc>
                  <a:txBody>
                    <a:bodyPr/>
                    <a:lstStyle/>
                    <a:p>
                      <a:r>
                        <a:rPr lang="en-IN" dirty="0"/>
                        <a:t>25%</a:t>
                      </a:r>
                    </a:p>
                  </a:txBody>
                  <a:tcPr anchor="ctr">
                    <a:lnL>
                      <a:noFill/>
                    </a:lnL>
                    <a:lnR>
                      <a:noFill/>
                    </a:lnR>
                    <a:lnT>
                      <a:noFill/>
                    </a:lnT>
                    <a:lnB>
                      <a:noFill/>
                    </a:lnB>
                  </a:tcPr>
                </a:tc>
                <a:extLst>
                  <a:ext uri="{0D108BD9-81ED-4DB2-BD59-A6C34878D82A}">
                    <a16:rowId xmlns:a16="http://schemas.microsoft.com/office/drawing/2014/main" val="3013973403"/>
                  </a:ext>
                </a:extLst>
              </a:tr>
            </a:tbl>
          </a:graphicData>
        </a:graphic>
      </p:graphicFrame>
    </p:spTree>
    <p:extLst>
      <p:ext uri="{BB962C8B-B14F-4D97-AF65-F5344CB8AC3E}">
        <p14:creationId xmlns:p14="http://schemas.microsoft.com/office/powerpoint/2010/main" val="142459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D39D-EDD9-4A38-BC20-1A0EB25D708E}"/>
              </a:ext>
            </a:extLst>
          </p:cNvPr>
          <p:cNvSpPr>
            <a:spLocks noGrp="1"/>
          </p:cNvSpPr>
          <p:nvPr>
            <p:ph type="title"/>
          </p:nvPr>
        </p:nvSpPr>
        <p:spPr>
          <a:xfrm>
            <a:off x="2592925" y="1362456"/>
            <a:ext cx="8911687" cy="1197864"/>
          </a:xfrm>
        </p:spPr>
        <p:txBody>
          <a:bodyPr>
            <a:normAutofit/>
          </a:bodyPr>
          <a:lstStyle/>
          <a:p>
            <a:r>
              <a:rPr lang="en-IN" dirty="0"/>
              <a:t>Conclusion</a:t>
            </a:r>
          </a:p>
        </p:txBody>
      </p:sp>
      <p:sp>
        <p:nvSpPr>
          <p:cNvPr id="6" name="Rectangle 2">
            <a:extLst>
              <a:ext uri="{FF2B5EF4-FFF2-40B4-BE49-F238E27FC236}">
                <a16:creationId xmlns:a16="http://schemas.microsoft.com/office/drawing/2014/main" id="{B0AE551F-5C2A-4DA7-818A-AEBADA053F37}"/>
              </a:ext>
            </a:extLst>
          </p:cNvPr>
          <p:cNvSpPr>
            <a:spLocks noGrp="1" noChangeArrowheads="1"/>
          </p:cNvSpPr>
          <p:nvPr>
            <p:ph idx="1"/>
          </p:nvPr>
        </p:nvSpPr>
        <p:spPr bwMode="auto">
          <a:xfrm>
            <a:off x="1481328" y="3006748"/>
            <a:ext cx="1044781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successfully analyzed smartphone usage data using </a:t>
            </a:r>
            <a:r>
              <a:rPr kumimoji="0" lang="en-US" altLang="en-US" sz="1800" b="1" i="0" u="none" strike="noStrike" cap="none" normalizeH="0" baseline="0" dirty="0">
                <a:ln>
                  <a:noFill/>
                </a:ln>
                <a:solidFill>
                  <a:schemeClr val="tx1"/>
                </a:solidFill>
                <a:effectLst/>
                <a:latin typeface="Arial" panose="020B0604020202020204" pitchFamily="34" charset="0"/>
              </a:rPr>
              <a:t>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and machine learning techniques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Heatmaps</a:t>
            </a:r>
            <a:r>
              <a:rPr kumimoji="0" lang="en-US" altLang="en-US" sz="1800" b="0" i="0" u="none" strike="noStrike" cap="none" normalizeH="0" baseline="0" dirty="0">
                <a:ln>
                  <a:noFill/>
                </a:ln>
                <a:solidFill>
                  <a:schemeClr val="tx1"/>
                </a:solidFill>
                <a:effectLst/>
                <a:latin typeface="Arial" panose="020B0604020202020204" pitchFamily="34" charset="0"/>
              </a:rPr>
              <a:t> effectively highlighted hourly and daily usage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K-Means clustering</a:t>
            </a:r>
            <a:r>
              <a:rPr kumimoji="0" lang="en-US" altLang="en-US" sz="1800" b="0" i="0" u="none" strike="noStrike" cap="none" normalizeH="0" baseline="0" dirty="0">
                <a:ln>
                  <a:noFill/>
                </a:ln>
                <a:solidFill>
                  <a:schemeClr val="tx1"/>
                </a:solidFill>
                <a:effectLst/>
                <a:latin typeface="Arial" panose="020B0604020202020204" pitchFamily="34" charset="0"/>
              </a:rPr>
              <a:t> classified users into </a:t>
            </a:r>
            <a:r>
              <a:rPr kumimoji="0" lang="en-US" altLang="en-US" sz="1800" b="1" i="0" u="none" strike="noStrike" cap="none" normalizeH="0" baseline="0" dirty="0">
                <a:ln>
                  <a:noFill/>
                </a:ln>
                <a:solidFill>
                  <a:schemeClr val="tx1"/>
                </a:solidFill>
                <a:effectLst/>
                <a:latin typeface="Arial" panose="020B0604020202020204" pitchFamily="34" charset="0"/>
              </a:rPr>
              <a:t>Heavy, Balanced, and Minimal</a:t>
            </a:r>
            <a:r>
              <a:rPr kumimoji="0" lang="en-US" altLang="en-US" sz="1800" b="0" i="0" u="none" strike="noStrike" cap="none" normalizeH="0" baseline="0" dirty="0">
                <a:ln>
                  <a:noFill/>
                </a:ln>
                <a:solidFill>
                  <a:schemeClr val="tx1"/>
                </a:solidFill>
                <a:effectLst/>
                <a:latin typeface="Arial" panose="020B0604020202020204" pitchFamily="34" charset="0"/>
              </a:rPr>
              <a:t> usage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Behavioral segmentation provides valuable insights for </a:t>
            </a:r>
            <a:r>
              <a:rPr kumimoji="0" lang="en-US" altLang="en-US" sz="1800" b="1" i="0" u="none" strike="noStrike" cap="none" normalizeH="0" baseline="0" dirty="0">
                <a:ln>
                  <a:noFill/>
                </a:ln>
                <a:solidFill>
                  <a:schemeClr val="tx1"/>
                </a:solidFill>
                <a:effectLst/>
                <a:latin typeface="Arial" panose="020B0604020202020204" pitchFamily="34" charset="0"/>
              </a:rPr>
              <a:t>digital well-being monitoring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can be extended for </a:t>
            </a:r>
            <a:r>
              <a:rPr kumimoji="0" lang="en-US" altLang="en-US" sz="1800" b="1" i="0" u="none" strike="noStrike" cap="none" normalizeH="0" baseline="0" dirty="0">
                <a:ln>
                  <a:noFill/>
                </a:ln>
                <a:solidFill>
                  <a:schemeClr val="tx1"/>
                </a:solidFill>
                <a:effectLst/>
                <a:latin typeface="Arial" panose="020B0604020202020204" pitchFamily="34" charset="0"/>
              </a:rPr>
              <a:t>screen-time recommendations and usage alerts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Overall, the approach enables better understanding of </a:t>
            </a:r>
            <a:r>
              <a:rPr kumimoji="0" lang="en-US" altLang="en-US" sz="1800" b="1" i="0" u="none" strike="noStrike" cap="none" normalizeH="0" baseline="0" dirty="0">
                <a:ln>
                  <a:noFill/>
                </a:ln>
                <a:solidFill>
                  <a:schemeClr val="tx1"/>
                </a:solidFill>
                <a:effectLst/>
                <a:latin typeface="Arial" panose="020B0604020202020204" pitchFamily="34" charset="0"/>
              </a:rPr>
              <a:t>digital behavior patterns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3626329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102</TotalTime>
  <Words>598</Words>
  <Application>Microsoft Office PowerPoint</Application>
  <PresentationFormat>Widescreen</PresentationFormat>
  <Paragraphs>72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Century Gothic</vt:lpstr>
      <vt:lpstr>Segoe UI Light</vt:lpstr>
      <vt:lpstr>Times New Roman</vt:lpstr>
      <vt:lpstr>Wingdings 3</vt:lpstr>
      <vt:lpstr>Wisp</vt:lpstr>
      <vt:lpstr>Project Title</vt:lpstr>
      <vt:lpstr>Problem Statement</vt:lpstr>
      <vt:lpstr>Technology Stack </vt:lpstr>
      <vt:lpstr>Data Preprocessing </vt:lpstr>
      <vt:lpstr>EDA</vt:lpstr>
      <vt:lpstr>Model Selection</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SmartPhone Usage Heatmao Analysis</dc:title>
  <dc:creator>Komal Kambire</dc:creator>
  <cp:lastModifiedBy>MC24032</cp:lastModifiedBy>
  <cp:revision>8</cp:revision>
  <dcterms:created xsi:type="dcterms:W3CDTF">2026-02-02T05:10:54Z</dcterms:created>
  <dcterms:modified xsi:type="dcterms:W3CDTF">2026-02-02T06:56:07Z</dcterms:modified>
</cp:coreProperties>
</file>